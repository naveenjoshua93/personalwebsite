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DFB"/>
                </a:solidFill>
              </a:rPr>
              <a:t>MORTAR</a:t>
            </a:r>
            <a:pPr indent="0" marL="0">
              <a:buNone/>
            </a:pPr>
            <a:r>
              <a:rPr lang="en-US" sz="5400" b="1" dirty="0">
                <a:solidFill>
                  <a:srgbClr val="2B3FD8"/>
                </a:solidFill>
              </a:rPr>
              <a:t> ■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DFDFB"/>
                </a:solidFill>
              </a:rPr>
              <a:t>AI agents that close the books.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 A  ⚡  CONFIDENTIAL  ⚡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The close still runs on heroics.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5–9 days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of month-end close, every month, run by the most senior people in finance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70%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3484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of that time is matching, reconciling, and chasing, not judgement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Hiring wall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3816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controllers are scarce, and the fix so far has been more spreadsheets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 illustrative and fictional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Agents just crossed the audit threshold.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45720" cy="2011680"/>
          </a:xfrm>
          <a:prstGeom prst="rect">
            <a:avLst/>
          </a:prstGeom>
          <a:solidFill>
            <a:srgbClr val="C9CE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LLMs draft 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2194560"/>
            <a:ext cx="45720" cy="2011680"/>
          </a:xfrm>
          <a:prstGeom prst="rect">
            <a:avLst/>
          </a:prstGeom>
          <a:solidFill>
            <a:srgbClr val="C9CEDA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Structured outputs make results checkable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5720" cy="2011680"/>
          </a:xfrm>
          <a:prstGeom prst="rect">
            <a:avLst/>
          </a:prstGeom>
          <a:solidFill>
            <a:srgbClr val="C9CED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Tool use plus evals make workflows repeatable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2194560"/>
            <a:ext cx="45720" cy="201168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Agent runs are reliable and loggable enough to stand in an audit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cost per reconciled line down roughly 20x in three years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A closed loop, with a human at the gate.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468880" cy="1463040"/>
          </a:xfrm>
          <a:prstGeom prst="rect">
            <a:avLst/>
          </a:prstGeom>
          <a:solidFill>
            <a:srgbClr val="FDFDFB"/>
          </a:solidFill>
          <a:ln w="19050">
            <a:solidFill>
              <a:srgbClr val="1014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ERP + bank feeds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8211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3A6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11880" y="2468880"/>
            <a:ext cx="2468880" cy="1463040"/>
          </a:xfrm>
          <a:prstGeom prst="rect">
            <a:avLst/>
          </a:prstGeom>
          <a:solidFill>
            <a:srgbClr val="2B3FD8"/>
          </a:solidFill>
          <a:ln w="19050">
            <a:solidFill>
              <a:srgbClr val="2B3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468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Mortar agents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match, reconcile, draft entries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6247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3A6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2468880"/>
            <a:ext cx="2468880" cy="1463040"/>
          </a:xfrm>
          <a:prstGeom prst="rect">
            <a:avLst/>
          </a:prstGeom>
          <a:solidFill>
            <a:srgbClr val="FDFDFB"/>
          </a:solidFill>
          <a:ln w="19050">
            <a:solidFill>
              <a:srgbClr val="1014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Controller approves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4283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3A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72600" y="2468880"/>
            <a:ext cx="2468880" cy="1463040"/>
          </a:xfrm>
          <a:prstGeom prst="rect">
            <a:avLst/>
          </a:prstGeom>
          <a:solidFill>
            <a:srgbClr val="FDFDFB"/>
          </a:solidFill>
          <a:ln w="19050">
            <a:solidFill>
              <a:srgbClr val="101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468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41B"/>
                </a:solidFill>
              </a:rPr>
              <a:t>Immutable audit 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posts without a human decision. Every agent step is logged, replayable, and citable.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Land on one painful workflow. Climb.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2468880" cy="1097280"/>
          </a:xfrm>
          <a:prstGeom prst="rect">
            <a:avLst/>
          </a:prstGeom>
          <a:solidFill>
            <a:srgbClr val="EDF0F6"/>
          </a:solidFill>
          <a:ln w="15240">
            <a:solidFill>
              <a:srgbClr val="1014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B"/>
                </a:solidFill>
              </a:rPr>
              <a:t>Reconciliation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937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3566160"/>
            <a:ext cx="2468880" cy="1828800"/>
          </a:xfrm>
          <a:prstGeom prst="rect">
            <a:avLst/>
          </a:prstGeom>
          <a:solidFill>
            <a:srgbClr val="EDF0F6"/>
          </a:solidFill>
          <a:ln w="15240">
            <a:solidFill>
              <a:srgbClr val="1014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B"/>
                </a:solidFill>
              </a:rPr>
              <a:t>AP exceptions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4937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2468880" cy="2560320"/>
          </a:xfrm>
          <a:prstGeom prst="rect">
            <a:avLst/>
          </a:prstGeom>
          <a:solidFill>
            <a:srgbClr val="EDF0F6"/>
          </a:solidFill>
          <a:ln w="15240">
            <a:solidFill>
              <a:srgbClr val="1014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B"/>
                </a:solidFill>
              </a:rPr>
              <a:t>Close checklist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937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98280" y="2103120"/>
            <a:ext cx="2468880" cy="3291840"/>
          </a:xfrm>
          <a:prstGeom prst="rect">
            <a:avLst/>
          </a:prstGeom>
          <a:solidFill>
            <a:srgbClr val="EDF0F6"/>
          </a:solidFill>
          <a:ln w="15240">
            <a:solidFill>
              <a:srgbClr val="101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41B"/>
                </a:solidFill>
              </a:rPr>
              <a:t>Reporting drafts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4937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step is sold to the same buyer, on the same audit trail, with no new procurement cycle.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Three numbers that agree with each other.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41B"/>
                </a:solidFill>
              </a:rPr>
              <a:t>$1.7M ARR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3.4x year over year, 14 mid-market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41B"/>
                </a:solidFill>
              </a:rPr>
              <a:t>128% NRR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34840" y="3063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the staircase is being climbed without new sales cycles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41B"/>
                </a:solidFill>
              </a:rPr>
              <a:t>11 months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38160" y="3063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CAC payback, holding as ACV grows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figures fictional. The craft is which three numbers appear, and that they corroborate.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What compounds while we sleep.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" cy="96012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Workflow depth.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Every deployed workflow encodes a customer’s edge cases; ripping it out means re-teaching someone else.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54864" cy="96012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33756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The eval corpus.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Every resolved exception becomes a test. Reliability compounds with volume, and volume is ours.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54864" cy="96012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57200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The audit trail.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Auditors learn to read Mortar logs. Switching means re-explaining a year of judgement calls.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The honest field.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2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 nothing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2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 in-house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2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RPA incumbents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2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Point AI tools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2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Mortar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41B"/>
                          </a:solidFill>
                        </a:rPr>
                        <a:t>Owned by finance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No, owned by eng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No, owned by IT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Partly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41B"/>
                          </a:solidFill>
                        </a:rPr>
                        <a:t>Audit-grade log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Build it yourself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Screen-level only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Rarely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41B"/>
                          </a:solidFill>
                        </a:rPr>
                        <a:t>Live in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Quarters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Months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41B"/>
                          </a:solidFill>
                        </a:rPr>
                        <a:t>Weeks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Priced per workflow, because seats punish automation.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$2k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per workflow per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~5 workflows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3484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average by month 9, so ~$120k ACV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383280" cy="54864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41B"/>
                </a:solidFill>
              </a:rPr>
              <a:t>78%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38160" y="29718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gross margin, inference costs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Expansion is the default motion: the buyer adds workflows, never negotiates seats.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We have lived this close.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C9CED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CEO (fictional)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Ran a 40-person finance ops org. Owned the 9-day close this deck opens with.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822960" cy="822960"/>
          </a:xfrm>
          <a:prstGeom prst="ellipse">
            <a:avLst/>
          </a:prstGeom>
          <a:solidFill>
            <a:srgbClr val="C9CEDA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CTO (fictional)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34747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Shipped agent evaluation infrastructure at scale. Believes reliability is a dataset, not a demo.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822960" cy="822960"/>
          </a:xfrm>
          <a:prstGeom prst="ellipse">
            <a:avLst/>
          </a:prstGeom>
          <a:solidFill>
            <a:srgbClr val="C9CED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Founding eng (fictional)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61"/>
                </a:solidFill>
              </a:rPr>
              <a:t>A decade of ERP integrations. Knows where the bodies are buried in the ledgers.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41B"/>
                </a:solidFill>
              </a:rPr>
              <a:t>$8M buys three milestones.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809744" cy="64008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103120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45%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41264" y="2103120"/>
            <a:ext cx="3739896" cy="640080"/>
          </a:xfrm>
          <a:prstGeom prst="rect">
            <a:avLst/>
          </a:prstGeom>
          <a:solidFill>
            <a:srgbClr val="10141B"/>
          </a:solidFill>
          <a:ln/>
        </p:spPr>
      </p:sp>
      <p:sp>
        <p:nvSpPr>
          <p:cNvPr id="7" name="Text 5"/>
          <p:cNvSpPr/>
          <p:nvPr/>
        </p:nvSpPr>
        <p:spPr>
          <a:xfrm>
            <a:off x="5650992" y="2103120"/>
            <a:ext cx="3557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 35%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81160" y="2103120"/>
            <a:ext cx="2139696" cy="640080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9" name="Text 7"/>
          <p:cNvSpPr/>
          <p:nvPr/>
        </p:nvSpPr>
        <p:spPr>
          <a:xfrm>
            <a:off x="9390888" y="210312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4864" cy="64008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00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$6M ARR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within 24 months, on the existing wedge motion.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54864" cy="64008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69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Three expansion modules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shipped and priced.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54864" cy="640080"/>
          </a:xfrm>
          <a:prstGeom prst="rect">
            <a:avLst/>
          </a:prstGeom>
          <a:solidFill>
            <a:srgbClr val="2B3FD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37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41B"/>
                </a:solidFill>
              </a:rPr>
              <a:t>SOC 2 Type II  </a:t>
            </a:r>
            <a:pPr indent="0" marL="0">
              <a:buNone/>
            </a:pPr>
            <a:r>
              <a:rPr lang="en-US" sz="1500" dirty="0">
                <a:solidFill>
                  <a:srgbClr val="4A5261"/>
                </a:solidFill>
              </a:rPr>
              <a:t>plus the audit-partner program, because trust is the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0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23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FICTIONAL SPECIMEN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DFDFB"/>
                </a:solidFill>
              </a:rPr>
              <a:t>The Series B story we intend to earn: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DFDFB"/>
                </a:solidFill>
              </a:rPr>
              <a:t>the system of record for agent-run finance work.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MORTAR  ⚡  FICTIONAL  ⚡  SPECIMEN BY TECLATO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Mortar specimen deck (fictional)</dc:title>
  <dc:subject>PptxGenJS Presentation</dc:subject>
  <dc:creator>Teclato</dc:creator>
  <cp:lastModifiedBy>Teclato</cp:lastModifiedBy>
  <cp:revision>1</cp:revision>
  <dcterms:created xsi:type="dcterms:W3CDTF">2026-08-31T19:09:28Z</dcterms:created>
  <dcterms:modified xsi:type="dcterms:W3CDTF">2026-08-31T19:09:28Z</dcterms:modified>
</cp:coreProperties>
</file>